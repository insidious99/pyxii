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8" r:id="rId4"/>
    <p:sldId id="259" r:id="rId5"/>
    <p:sldId id="260" r:id="rId6"/>
    <p:sldId id="261" r:id="rId7"/>
    <p:sldId id="263" r:id="rId8"/>
    <p:sldId id="264" r:id="rId9"/>
    <p:sldId id="266" r:id="rId10"/>
    <p:sldId id="267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59AF7E-14A2-4EF3-8AFC-ACDDFB2DE0AD}">
          <p14:sldIdLst>
            <p14:sldId id="256"/>
            <p14:sldId id="257"/>
            <p14:sldId id="268"/>
            <p14:sldId id="259"/>
            <p14:sldId id="260"/>
            <p14:sldId id="261"/>
            <p14:sldId id="263"/>
            <p14:sldId id="264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170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7AE97-593E-4F31-88EF-88FF587F8033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97208-E5FD-4C4C-90FE-58BEAC90F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05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174320"/>
            <a:ext cx="4543200" cy="193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220360" y="281520"/>
            <a:ext cx="3359520" cy="468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154800"/>
            <a:ext cx="86868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157680" y="3548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157680" y="21196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158760" y="140544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157680" y="2834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5210640" y="21196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5210640" y="2834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title"/>
          </p:nvPr>
        </p:nvSpPr>
        <p:spPr>
          <a:xfrm>
            <a:off x="5210640" y="3548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9"/>
          <p:cNvSpPr>
            <a:spLocks noGrp="1"/>
          </p:cNvSpPr>
          <p:nvPr>
            <p:ph type="title"/>
          </p:nvPr>
        </p:nvSpPr>
        <p:spPr>
          <a:xfrm>
            <a:off x="5210640" y="14054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16680" y="480960"/>
            <a:ext cx="6901560" cy="1753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81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019880" y="2422440"/>
            <a:ext cx="3823920" cy="208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859840" y="2552760"/>
            <a:ext cx="5101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title"/>
          </p:nvPr>
        </p:nvSpPr>
        <p:spPr>
          <a:xfrm>
            <a:off x="2860200" y="1207800"/>
            <a:ext cx="5094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title"/>
          </p:nvPr>
        </p:nvSpPr>
        <p:spPr>
          <a:xfrm>
            <a:off x="2860200" y="3897720"/>
            <a:ext cx="5101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605376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title"/>
          </p:nvPr>
        </p:nvSpPr>
        <p:spPr>
          <a:xfrm>
            <a:off x="6053760" y="183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title"/>
          </p:nvPr>
        </p:nvSpPr>
        <p:spPr>
          <a:xfrm>
            <a:off x="3381480" y="184032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title"/>
          </p:nvPr>
        </p:nvSpPr>
        <p:spPr>
          <a:xfrm>
            <a:off x="338148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title"/>
          </p:nvPr>
        </p:nvSpPr>
        <p:spPr>
          <a:xfrm>
            <a:off x="709200" y="1839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title"/>
          </p:nvPr>
        </p:nvSpPr>
        <p:spPr>
          <a:xfrm>
            <a:off x="709200" y="356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body"/>
          </p:nvPr>
        </p:nvSpPr>
        <p:spPr>
          <a:xfrm>
            <a:off x="7200" y="7200"/>
            <a:ext cx="3472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4064760" y="921240"/>
            <a:ext cx="446328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4064760" y="2920680"/>
            <a:ext cx="446328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591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title"/>
          </p:nvPr>
        </p:nvSpPr>
        <p:spPr>
          <a:xfrm>
            <a:off x="1902240" y="917640"/>
            <a:ext cx="6354000" cy="22359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title"/>
          </p:nvPr>
        </p:nvSpPr>
        <p:spPr>
          <a:xfrm>
            <a:off x="771120" y="812880"/>
            <a:ext cx="1267920" cy="126936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02840" y="763920"/>
            <a:ext cx="5089680" cy="694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105;p21"/>
          <p:cNvSpPr/>
          <p:nvPr/>
        </p:nvSpPr>
        <p:spPr>
          <a:xfrm>
            <a:off x="2953080" y="3561840"/>
            <a:ext cx="35899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106;p21"/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39" name="Google Shape;107;p21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108;p21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110;p22"/>
          <p:cNvGrpSpPr/>
          <p:nvPr/>
        </p:nvGrpSpPr>
        <p:grpSpPr>
          <a:xfrm>
            <a:off x="-1551960" y="-58320"/>
            <a:ext cx="4029120" cy="5263200"/>
            <a:chOff x="-1551960" y="-58320"/>
            <a:chExt cx="4029120" cy="5263200"/>
          </a:xfrm>
        </p:grpSpPr>
        <p:sp>
          <p:nvSpPr>
            <p:cNvPr id="42" name="Google Shape;111;p22"/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12;p22"/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4;p23"/>
          <p:cNvSpPr/>
          <p:nvPr/>
        </p:nvSpPr>
        <p:spPr>
          <a:xfrm flipH="1">
            <a:off x="6608160" y="2754000"/>
            <a:ext cx="4028040" cy="4028040"/>
          </a:xfrm>
          <a:custGeom>
            <a:avLst/>
            <a:gdLst>
              <a:gd name="textAreaLeft" fmla="*/ -360 w 4028040"/>
              <a:gd name="textAreaRight" fmla="*/ 4028040 w 4028040"/>
              <a:gd name="textAreaTop" fmla="*/ 0 h 4028040"/>
              <a:gd name="textAreaBottom" fmla="*/ 4028400 h 4028040"/>
            </a:gdLst>
            <a:ahLst/>
            <a:cxnLst/>
            <a:rect l="textAreaLeft" t="textAreaTop" r="textAreaRight" b="textAreaBottom"/>
            <a:pathLst>
              <a:path w="6857040" h="6857040">
                <a:moveTo>
                  <a:pt x="4615277" y="3209489"/>
                </a:moveTo>
                <a:lnTo>
                  <a:pt x="6857041" y="3428520"/>
                </a:lnTo>
                <a:lnTo>
                  <a:pt x="4615277" y="3647552"/>
                </a:lnTo>
                <a:cubicBezTo>
                  <a:pt x="4102948" y="3697634"/>
                  <a:pt x="3697565" y="4102948"/>
                  <a:pt x="3647552" y="4615277"/>
                </a:cubicBezTo>
                <a:lnTo>
                  <a:pt x="3428520" y="6857041"/>
                </a:lnTo>
                <a:lnTo>
                  <a:pt x="3209489" y="4615277"/>
                </a:lnTo>
                <a:cubicBezTo>
                  <a:pt x="3159407" y="4102948"/>
                  <a:pt x="2754093" y="3697565"/>
                  <a:pt x="2241764" y="3647552"/>
                </a:cubicBezTo>
                <a:lnTo>
                  <a:pt x="0" y="3428520"/>
                </a:lnTo>
                <a:lnTo>
                  <a:pt x="2241764" y="3209489"/>
                </a:lnTo>
                <a:cubicBezTo>
                  <a:pt x="2754093" y="3159407"/>
                  <a:pt x="3159476" y="2754093"/>
                  <a:pt x="3209489" y="2241764"/>
                </a:cubicBezTo>
                <a:lnTo>
                  <a:pt x="3428520" y="0"/>
                </a:lnTo>
                <a:lnTo>
                  <a:pt x="3647552" y="2241764"/>
                </a:lnTo>
                <a:cubicBezTo>
                  <a:pt x="3697634" y="2754093"/>
                  <a:pt x="4102948" y="3159476"/>
                  <a:pt x="4615277" y="3209489"/>
                </a:cubicBezTo>
                <a:close/>
              </a:path>
            </a:pathLst>
          </a:custGeom>
          <a:noFill/>
          <a:ln w="9525">
            <a:solidFill>
              <a:srgbClr val="F9ED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Google Shape;115;p23"/>
          <p:cNvSpPr/>
          <p:nvPr/>
        </p:nvSpPr>
        <p:spPr>
          <a:xfrm rot="19798200" flipH="1">
            <a:off x="7990560" y="4147920"/>
            <a:ext cx="172800" cy="173160"/>
          </a:xfrm>
          <a:prstGeom prst="star4">
            <a:avLst>
              <a:gd name="adj" fmla="val 25578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1320" bIns="313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762120" y="1069560"/>
            <a:ext cx="4974480" cy="237384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99340" y="231458"/>
            <a:ext cx="4543200" cy="267562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900" b="0" u="sng" strike="noStrike" dirty="0">
                <a:solidFill>
                  <a:srgbClr val="F9EDD9"/>
                </a:solidFill>
                <a:effectLst/>
                <a:uFillTx/>
                <a:latin typeface="Aboreto"/>
                <a:ea typeface="Aboreto"/>
              </a:rPr>
              <a:t>SACRED ENSEMBLES OF THE</a:t>
            </a:r>
            <a:endParaRPr lang="fr-FR" sz="4900" b="0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900" b="0" u="sng" strike="noStrike" dirty="0">
                <a:solidFill>
                  <a:srgbClr val="F9EDD9"/>
                </a:solidFill>
                <a:effectLst/>
                <a:uFillTx/>
                <a:latin typeface="Monsieur La Doulaise"/>
                <a:ea typeface="Aboreto"/>
              </a:rPr>
              <a:t>HOYSALAS</a:t>
            </a:r>
            <a:endParaRPr lang="fr-FR" sz="4900" b="0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209060" y="3706022"/>
            <a:ext cx="2723760" cy="7668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20000"/>
          </a:bodyPr>
          <a:lstStyle/>
          <a:p>
            <a:pPr indent="0" algn="ctr">
              <a:buNone/>
            </a:pPr>
            <a:r>
              <a:rPr lang="en-US" sz="1900" dirty="0">
                <a:solidFill>
                  <a:schemeClr val="dk1"/>
                </a:solidFill>
                <a:latin typeface="Alegreya Sans"/>
              </a:rPr>
              <a:t>Presented</a:t>
            </a:r>
            <a:endParaRPr lang="en-US" sz="19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By </a:t>
            </a:r>
            <a:r>
              <a:rPr lang="en-US" sz="1900" b="0" u="none" strike="noStrike" dirty="0" err="1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Tarun</a:t>
            </a:r>
            <a:r>
              <a:rPr lang="en-US" sz="19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 </a:t>
            </a:r>
            <a:r>
              <a:rPr lang="en-US" sz="1900" b="0" u="none" strike="noStrike" dirty="0" err="1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Hansdah</a:t>
            </a:r>
            <a:r>
              <a:rPr lang="en-US" sz="1900" b="0" u="none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,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900" dirty="0">
                <a:solidFill>
                  <a:schemeClr val="dk1"/>
                </a:solidFill>
                <a:latin typeface="Alegreya Sans"/>
              </a:rPr>
              <a:t>Class XII</a:t>
            </a:r>
            <a:endParaRPr lang="en-US" sz="19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3" name="Google Shape;131;p28">
            <a:extLst>
              <a:ext uri="{FF2B5EF4-FFF2-40B4-BE49-F238E27FC236}">
                <a16:creationId xmlns:a16="http://schemas.microsoft.com/office/drawing/2014/main" id="{993E813E-87B7-45C2-8302-03340A0508CE}"/>
              </a:ext>
            </a:extLst>
          </p:cNvPr>
          <p:cNvPicPr/>
          <p:nvPr/>
        </p:nvPicPr>
        <p:blipFill>
          <a:blip r:embed="rId2"/>
          <a:srcRect l="2070" t="2345" r="-2070" b="2345"/>
          <a:stretch/>
        </p:blipFill>
        <p:spPr>
          <a:xfrm>
            <a:off x="5169460" y="231457"/>
            <a:ext cx="3359150" cy="46805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502024" y="290676"/>
            <a:ext cx="4069976" cy="43889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b="0" u="sng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legreya Sans"/>
              </a:rPr>
              <a:t>INTRODUCTION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Located in Karnataka, the Sacred Ensembles of the </a:t>
            </a:r>
            <a:r>
              <a:rPr lang="en-US" sz="1600" dirty="0" err="1"/>
              <a:t>Hoysalas</a:t>
            </a:r>
            <a:r>
              <a:rPr lang="en-US" sz="1600" dirty="0"/>
              <a:t> showcase the height of medieval South Indian temple architecture.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They were constructed during the 12th and 13th centuries under the </a:t>
            </a:r>
            <a:r>
              <a:rPr lang="en-US" sz="1600" dirty="0" err="1"/>
              <a:t>Hoysala</a:t>
            </a:r>
            <a:r>
              <a:rPr lang="en-US" sz="1600" dirty="0"/>
              <a:t> dynasty.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The temples reflect a harmonious blend of devotion and artistic excellence.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They symbolize a rich spiritual and cultural heritage that has gained global recognition.</a:t>
            </a: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500" b="0" u="sng" strike="noStrike" dirty="0">
              <a:solidFill>
                <a:schemeClr val="dk1"/>
              </a:solidFill>
              <a:effectLst/>
              <a:uFillTx/>
              <a:latin typeface="Alegreya Sans"/>
              <a:ea typeface="Alegreya Sans"/>
            </a:endParaRPr>
          </a:p>
        </p:txBody>
      </p:sp>
      <p:pic>
        <p:nvPicPr>
          <p:cNvPr id="1026" name="Picture 2" descr="Sacred Ensembles of the Hoysalas, Helebidu, Belur and Somenathpur">
            <a:extLst>
              <a:ext uri="{FF2B5EF4-FFF2-40B4-BE49-F238E27FC236}">
                <a16:creationId xmlns:a16="http://schemas.microsoft.com/office/drawing/2014/main" id="{7630972B-ADDC-D64B-023C-21848972E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90676"/>
            <a:ext cx="3760320" cy="45621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CE5E85-E785-33F3-3E9F-DD1C88FD5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804654"/>
              </p:ext>
            </p:extLst>
          </p:nvPr>
        </p:nvGraphicFramePr>
        <p:xfrm>
          <a:off x="1281953" y="651498"/>
          <a:ext cx="6580093" cy="3840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0093">
                  <a:extLst>
                    <a:ext uri="{9D8B030D-6E8A-4147-A177-3AD203B41FA5}">
                      <a16:colId xmlns:a16="http://schemas.microsoft.com/office/drawing/2014/main" val="1718530464"/>
                    </a:ext>
                  </a:extLst>
                </a:gridCol>
              </a:tblGrid>
              <a:tr h="300747">
                <a:tc>
                  <a:txBody>
                    <a:bodyPr/>
                    <a:lstStyle/>
                    <a:p>
                      <a:pPr algn="ctr"/>
                      <a:r>
                        <a:rPr lang="en-IN" sz="2300" dirty="0">
                          <a:solidFill>
                            <a:schemeClr val="tx2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533763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Historical Background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800505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UNESCO World Heritage Recognition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021360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Cultural and Religious importance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979737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Location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231748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Route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239032"/>
                  </a:ext>
                </a:extLst>
              </a:tr>
              <a:tr h="5664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Conclusion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alpha val="2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949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843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119420" y="189409"/>
            <a:ext cx="6905160" cy="8894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0" u="sng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boreto"/>
              </a:rPr>
              <a:t>HISTORY OF HOYSALA DYNASTY</a:t>
            </a:r>
            <a:endParaRPr lang="fr-FR" sz="3800" b="0" u="sng" strike="noStrike" dirty="0">
              <a:solidFill>
                <a:schemeClr val="dk1"/>
              </a:solidFill>
              <a:effectLst/>
              <a:uFillTx/>
              <a:latin typeface="Alegreya Sans"/>
            </a:endParaRPr>
          </a:p>
        </p:txBody>
      </p:sp>
      <p:pic>
        <p:nvPicPr>
          <p:cNvPr id="2050" name="Picture 2" descr="The Sacred Ensembles of Hoysalas are India's 42nd UNESCO World Heritage  Site | Condé Nast Traveller India">
            <a:extLst>
              <a:ext uri="{FF2B5EF4-FFF2-40B4-BE49-F238E27FC236}">
                <a16:creationId xmlns:a16="http://schemas.microsoft.com/office/drawing/2014/main" id="{379C0BFB-ED0A-49A4-941C-8316B21C1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966" y="1222850"/>
            <a:ext cx="2582148" cy="31896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6401EAB9-F4DA-46AE-B78D-1F02C6B945E6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598437" y="1540698"/>
            <a:ext cx="500010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Hoysala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dynasty ruled southern India from the 11th to the 14th centuries.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played a pivotal role in the advancement of temple architecture in the region.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 rulers such as King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Vishnuvardhana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dynasty experienced significant artistic growth.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period left a lasting cultural and architectural heritage, clearly reflected in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Hoysala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temples.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19420" y="274503"/>
            <a:ext cx="6905160" cy="79517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0" u="sng" strike="noStrike" dirty="0">
                <a:solidFill>
                  <a:schemeClr val="dk1"/>
                </a:solidFill>
                <a:effectLst/>
                <a:uFillTx/>
                <a:latin typeface="Monsieur La Doulaise"/>
                <a:ea typeface="Aboreto"/>
              </a:rPr>
              <a:t>UNESCO </a:t>
            </a:r>
            <a:r>
              <a:rPr lang="en-US" sz="3800" b="0" u="sng" strike="noStrike" dirty="0">
                <a:solidFill>
                  <a:schemeClr val="dk1"/>
                </a:solidFill>
                <a:effectLst/>
                <a:uFillTx/>
                <a:latin typeface="Alegreya Sans"/>
                <a:ea typeface="Aboreto"/>
              </a:rPr>
              <a:t>RECOGNITION</a:t>
            </a:r>
            <a:endParaRPr lang="fr-FR" sz="3800" b="0" u="sng" strike="noStrike" dirty="0">
              <a:solidFill>
                <a:schemeClr val="dk1"/>
              </a:solidFill>
              <a:effectLst/>
              <a:uFillTx/>
              <a:latin typeface="Alegreya San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599535" y="1475937"/>
            <a:ext cx="5344065" cy="248358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In 2023, the Sacred Ensembles of the </a:t>
            </a:r>
            <a:r>
              <a:rPr lang="en-US" sz="1800" dirty="0" err="1"/>
              <a:t>Hoysalas</a:t>
            </a:r>
            <a:r>
              <a:rPr lang="en-US" sz="1800" dirty="0"/>
              <a:t> were designated as a UNESCO World Heritage Site.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 designation acknowledges their exceptional architectural and cultural significance.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It highlights their global importance as masterpieces of medieval Indian art.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 recognition also emphasizes their deep devotional and spiritual value.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074" name="Picture 2" descr="Sacred Ensembles of the Hoysalas, Helebidu, Belur and Somenathpur (01) | Aζ  South Asia">
            <a:extLst>
              <a:ext uri="{FF2B5EF4-FFF2-40B4-BE49-F238E27FC236}">
                <a16:creationId xmlns:a16="http://schemas.microsoft.com/office/drawing/2014/main" id="{ED2186F0-62F1-4778-931F-DCC454772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743" y="1475937"/>
            <a:ext cx="2674189" cy="27863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18335" y="146649"/>
            <a:ext cx="7507330" cy="129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800" b="0" u="sng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CULTURAL AND RELIGIOUS IMPORTANCE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14672" y="1708030"/>
            <a:ext cx="4959586" cy="267419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 </a:t>
            </a:r>
            <a:r>
              <a:rPr lang="en-US" sz="1800" dirty="0" err="1"/>
              <a:t>Hoysala</a:t>
            </a:r>
            <a:r>
              <a:rPr lang="en-US" sz="1800" dirty="0"/>
              <a:t> temples serve as important centers of spiritual worship and cultural expression.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They preserve narratives from Indian epics such as the Ramayana and Mahabharata, reflecting deep religious devotion.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Historically, the temple ensembles functioned as hubs for artistic, social, and community activities.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Picture 15" descr="Sacred Ensembles of the Hoysalas Temples, Karnataka | AlightIndia">
            <a:extLst>
              <a:ext uri="{FF2B5EF4-FFF2-40B4-BE49-F238E27FC236}">
                <a16:creationId xmlns:a16="http://schemas.microsoft.com/office/drawing/2014/main" id="{FC9596B4-A115-4E20-8FC5-50B82575646A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57" r="30263"/>
          <a:stretch/>
        </p:blipFill>
        <p:spPr bwMode="auto">
          <a:xfrm>
            <a:off x="5727940" y="1503895"/>
            <a:ext cx="2840439" cy="33182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48080" y="213266"/>
            <a:ext cx="3823920" cy="103962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000" b="0" u="sng" strike="noStrike" dirty="0">
                <a:solidFill>
                  <a:schemeClr val="dk1"/>
                </a:solidFill>
                <a:effectLst/>
                <a:uFillTx/>
              </a:rPr>
              <a:t>LOCATION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34DAAF-25B5-6CB9-1DCA-006AEDB953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89104" y="1956557"/>
            <a:ext cx="3823920" cy="123038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Located primarily in present-day Karnataka, southern India.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 </a:t>
            </a:r>
            <a:r>
              <a:rPr lang="en-US" sz="1800" dirty="0" err="1"/>
              <a:t>Hoysalas</a:t>
            </a:r>
            <a:r>
              <a:rPr lang="en-US" sz="1800" dirty="0"/>
              <a:t> is about 20 kilometers east from Belur.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FC376A-511C-4DAC-ABA2-2F3D2916D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788" y="1252894"/>
            <a:ext cx="4013021" cy="25239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5F683C-3AB3-A111-E553-06E34AB8BA1C}"/>
              </a:ext>
            </a:extLst>
          </p:cNvPr>
          <p:cNvSpPr txBox="1"/>
          <p:nvPr/>
        </p:nvSpPr>
        <p:spPr>
          <a:xfrm>
            <a:off x="282443" y="135146"/>
            <a:ext cx="517807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u="sng" dirty="0"/>
              <a:t>Route from Porbandar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By Road: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1700 – 1800km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Route: Porbandar → Rajkot → Ahmedabad → Vadodara → Nashik → Pune → Kolhapur →</a:t>
            </a:r>
            <a:r>
              <a:rPr lang="en-IN" dirty="0" err="1"/>
              <a:t>Hubballi</a:t>
            </a:r>
            <a:r>
              <a:rPr lang="en-IN" dirty="0"/>
              <a:t> → Hassan → </a:t>
            </a:r>
            <a:r>
              <a:rPr lang="en-IN" dirty="0" err="1"/>
              <a:t>Belur</a:t>
            </a:r>
            <a:r>
              <a:rPr lang="en-IN" dirty="0"/>
              <a:t> / </a:t>
            </a:r>
            <a:r>
              <a:rPr lang="en-IN" dirty="0" err="1"/>
              <a:t>Halebidu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25-28 hours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By Air: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Route: Porbandar → Bus/Train →Ahmedabad →  Bengaluru → Bus/Taxi → Belur/</a:t>
            </a:r>
            <a:r>
              <a:rPr lang="en-IN" dirty="0" err="1"/>
              <a:t>Halebidu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1-2hour(Flight), 4-5(Road)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59D3C-7003-4E39-8849-DC3132C2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521" y="782473"/>
            <a:ext cx="3202629" cy="39077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2348743" y="200963"/>
            <a:ext cx="4446514" cy="89809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0" u="sng" strike="noStrike" dirty="0">
                <a:solidFill>
                  <a:schemeClr val="dk1"/>
                </a:solidFill>
                <a:effectLst/>
                <a:uFillTx/>
                <a:latin typeface="Aboreto"/>
                <a:ea typeface="Aboreto"/>
              </a:rPr>
              <a:t>Conclusion</a:t>
            </a:r>
            <a:endParaRPr lang="fr-FR" sz="3800" b="0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ADCC0D-C52F-4DC4-8BF9-A86EA4311A74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31322" y="1514557"/>
            <a:ext cx="444651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 Sacred Ensembles of the </a:t>
            </a:r>
            <a:r>
              <a:rPr lang="en-US" sz="1800" dirty="0" err="1"/>
              <a:t>Hoysalas</a:t>
            </a:r>
            <a:r>
              <a:rPr lang="en-US" sz="1800" dirty="0"/>
              <a:t> exemplify medieval Indian architectural and religious artistry.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Their intricate </a:t>
            </a:r>
            <a:r>
              <a:rPr lang="en-US" sz="1800" dirty="0">
                <a:latin typeface="+mn-lt"/>
              </a:rPr>
              <a:t>design</a:t>
            </a:r>
            <a:r>
              <a:rPr lang="en-US" sz="1800" dirty="0"/>
              <a:t> and spiritual value reflect a strong historical legacy.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They attract scholars and visitors worldwide.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/>
              <a:t>The monuments highlight Karnataka’s rich cultural heritage and UNESCO significance.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3" name="Picture 7" descr="The Sacred Ensembles Of The Hoysala Temples Submitted For Consideration As  World Heritage">
            <a:extLst>
              <a:ext uri="{FF2B5EF4-FFF2-40B4-BE49-F238E27FC236}">
                <a16:creationId xmlns:a16="http://schemas.microsoft.com/office/drawing/2014/main" id="{EF1E34C0-C96B-4809-A9D7-024941509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71" y="1395389"/>
            <a:ext cx="3501922" cy="31006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27CD33E-7413-76B9-3891-BC7D13F95C9A}"/>
              </a:ext>
            </a:extLst>
          </p:cNvPr>
          <p:cNvSpPr txBox="1"/>
          <p:nvPr/>
        </p:nvSpPr>
        <p:spPr>
          <a:xfrm>
            <a:off x="1229763" y="171370"/>
            <a:ext cx="6259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Thank You!</a:t>
            </a:r>
            <a:endParaRPr lang="en-IN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71B86-5B3C-06D7-2949-E94D0D16CE39}"/>
              </a:ext>
            </a:extLst>
          </p:cNvPr>
          <p:cNvSpPr txBox="1"/>
          <p:nvPr/>
        </p:nvSpPr>
        <p:spPr>
          <a:xfrm>
            <a:off x="1739003" y="1939943"/>
            <a:ext cx="52410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Presentation by</a:t>
            </a:r>
          </a:p>
          <a:p>
            <a:pPr algn="ctr"/>
            <a:r>
              <a:rPr lang="en-US" dirty="0"/>
              <a:t>Tarun Hansdah</a:t>
            </a:r>
          </a:p>
          <a:p>
            <a:pPr algn="ctr"/>
            <a:r>
              <a:rPr lang="en-US" dirty="0"/>
              <a:t>Roll no. 16, Class </a:t>
            </a:r>
            <a:r>
              <a:rPr lang="en-US" dirty="0">
                <a:latin typeface="Palatino Linotype" panose="02040502050505030304" pitchFamily="18" charset="0"/>
              </a:rPr>
              <a:t>XII</a:t>
            </a:r>
          </a:p>
          <a:p>
            <a:pPr algn="ctr"/>
            <a:r>
              <a:rPr lang="en-US" b="1" dirty="0"/>
              <a:t>Under the guidance of</a:t>
            </a:r>
          </a:p>
          <a:p>
            <a:pPr algn="ctr"/>
            <a:r>
              <a:rPr lang="en-US" dirty="0"/>
              <a:t>Ms. Vandana </a:t>
            </a:r>
            <a:r>
              <a:rPr lang="en-US" dirty="0" err="1"/>
              <a:t>Ozi</a:t>
            </a:r>
            <a:r>
              <a:rPr lang="en-US" dirty="0"/>
              <a:t> ma’ am</a:t>
            </a:r>
          </a:p>
          <a:p>
            <a:pPr algn="ctr"/>
            <a:endParaRPr lang="en-IN" dirty="0">
              <a:latin typeface="Palatino Linotype" panose="02040502050505030304" pitchFamily="18" charset="0"/>
            </a:endParaRPr>
          </a:p>
        </p:txBody>
      </p:sp>
      <p:grpSp>
        <p:nvGrpSpPr>
          <p:cNvPr id="12" name="Google Shape;260;p33">
            <a:extLst>
              <a:ext uri="{FF2B5EF4-FFF2-40B4-BE49-F238E27FC236}">
                <a16:creationId xmlns:a16="http://schemas.microsoft.com/office/drawing/2014/main" id="{2A640F76-0325-1311-FC58-8417F1CD1F73}"/>
              </a:ext>
            </a:extLst>
          </p:cNvPr>
          <p:cNvGrpSpPr/>
          <p:nvPr/>
        </p:nvGrpSpPr>
        <p:grpSpPr>
          <a:xfrm>
            <a:off x="-1172818" y="-58320"/>
            <a:ext cx="4029120" cy="5263200"/>
            <a:chOff x="-1551960" y="-58320"/>
            <a:chExt cx="4029120" cy="5263200"/>
          </a:xfrm>
        </p:grpSpPr>
        <p:sp>
          <p:nvSpPr>
            <p:cNvPr id="13" name="Google Shape;261;p33">
              <a:extLst>
                <a:ext uri="{FF2B5EF4-FFF2-40B4-BE49-F238E27FC236}">
                  <a16:creationId xmlns:a16="http://schemas.microsoft.com/office/drawing/2014/main" id="{478AD6FF-D519-3460-831C-B59A80645E4A}"/>
                </a:ext>
              </a:extLst>
            </p:cNvPr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62;p33">
              <a:extLst>
                <a:ext uri="{FF2B5EF4-FFF2-40B4-BE49-F238E27FC236}">
                  <a16:creationId xmlns:a16="http://schemas.microsoft.com/office/drawing/2014/main" id="{CA5E6826-CADE-C67D-9300-4AFAA07789ED}"/>
                </a:ext>
              </a:extLst>
            </p:cNvPr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" name="Google Shape;260;p33">
            <a:extLst>
              <a:ext uri="{FF2B5EF4-FFF2-40B4-BE49-F238E27FC236}">
                <a16:creationId xmlns:a16="http://schemas.microsoft.com/office/drawing/2014/main" id="{A6EFDE29-8351-4D05-9AC7-3382D94DE3F4}"/>
              </a:ext>
            </a:extLst>
          </p:cNvPr>
          <p:cNvGrpSpPr/>
          <p:nvPr/>
        </p:nvGrpSpPr>
        <p:grpSpPr>
          <a:xfrm>
            <a:off x="6287700" y="-58320"/>
            <a:ext cx="4029120" cy="5263200"/>
            <a:chOff x="-1551960" y="-58320"/>
            <a:chExt cx="4029120" cy="5263200"/>
          </a:xfrm>
        </p:grpSpPr>
        <p:sp>
          <p:nvSpPr>
            <p:cNvPr id="3" name="Google Shape;261;p33">
              <a:extLst>
                <a:ext uri="{FF2B5EF4-FFF2-40B4-BE49-F238E27FC236}">
                  <a16:creationId xmlns:a16="http://schemas.microsoft.com/office/drawing/2014/main" id="{9ADB4224-3A4C-0856-F336-14E2294E4E5E}"/>
                </a:ext>
              </a:extLst>
            </p:cNvPr>
            <p:cNvSpPr/>
            <p:nvPr/>
          </p:nvSpPr>
          <p:spPr>
            <a:xfrm>
              <a:off x="-1551960" y="-58320"/>
              <a:ext cx="4029120" cy="5263200"/>
            </a:xfrm>
            <a:custGeom>
              <a:avLst/>
              <a:gdLst>
                <a:gd name="textAreaLeft" fmla="*/ 0 w 4029120"/>
                <a:gd name="textAreaRight" fmla="*/ 4029480 w 4029120"/>
                <a:gd name="textAreaTop" fmla="*/ 0 h 5263200"/>
                <a:gd name="textAreaBottom" fmla="*/ 5263560 h 5263200"/>
              </a:gdLst>
              <a:ahLst/>
              <a:cxnLst/>
              <a:rect l="textAreaLeft" t="textAreaTop" r="textAreaRight" b="textAreaBottom"/>
              <a:pathLst>
                <a:path w="5250243" h="6858000">
                  <a:moveTo>
                    <a:pt x="3848989" y="6719189"/>
                  </a:moveTo>
                  <a:lnTo>
                    <a:pt x="5250244" y="6858000"/>
                  </a:lnTo>
                  <a:lnTo>
                    <a:pt x="0" y="6858000"/>
                  </a:lnTo>
                  <a:lnTo>
                    <a:pt x="1401255" y="6719189"/>
                  </a:lnTo>
                  <a:cubicBezTo>
                    <a:pt x="1975358" y="6662356"/>
                    <a:pt x="2429510" y="6208205"/>
                    <a:pt x="2486343" y="5634101"/>
                  </a:cubicBezTo>
                  <a:lnTo>
                    <a:pt x="2609279" y="4392676"/>
                  </a:lnTo>
                  <a:lnTo>
                    <a:pt x="2565718" y="3952558"/>
                  </a:lnTo>
                  <a:cubicBezTo>
                    <a:pt x="2541397" y="3707003"/>
                    <a:pt x="2347087" y="3512693"/>
                    <a:pt x="2101533" y="3488372"/>
                  </a:cubicBezTo>
                  <a:lnTo>
                    <a:pt x="1501585" y="3429000"/>
                  </a:lnTo>
                  <a:lnTo>
                    <a:pt x="2101533" y="3369564"/>
                  </a:lnTo>
                  <a:cubicBezTo>
                    <a:pt x="2347087" y="3345244"/>
                    <a:pt x="2541397" y="3150997"/>
                    <a:pt x="2565718" y="2905379"/>
                  </a:cubicBezTo>
                  <a:lnTo>
                    <a:pt x="2608580" y="2472246"/>
                  </a:lnTo>
                  <a:lnTo>
                    <a:pt x="2486343" y="1237869"/>
                  </a:lnTo>
                  <a:cubicBezTo>
                    <a:pt x="2429510" y="663766"/>
                    <a:pt x="1975358" y="209613"/>
                    <a:pt x="1401255" y="152718"/>
                  </a:cubicBezTo>
                  <a:lnTo>
                    <a:pt x="0" y="13970"/>
                  </a:lnTo>
                  <a:lnTo>
                    <a:pt x="141224" y="0"/>
                  </a:lnTo>
                  <a:lnTo>
                    <a:pt x="5109020" y="0"/>
                  </a:lnTo>
                  <a:lnTo>
                    <a:pt x="5250244" y="13970"/>
                  </a:lnTo>
                  <a:lnTo>
                    <a:pt x="3848989" y="152718"/>
                  </a:lnTo>
                  <a:cubicBezTo>
                    <a:pt x="3274886" y="209613"/>
                    <a:pt x="2820734" y="663766"/>
                    <a:pt x="2763901" y="1237869"/>
                  </a:cubicBezTo>
                  <a:lnTo>
                    <a:pt x="2641664" y="2472246"/>
                  </a:lnTo>
                  <a:lnTo>
                    <a:pt x="2684526" y="2905379"/>
                  </a:lnTo>
                  <a:cubicBezTo>
                    <a:pt x="2708847" y="3150997"/>
                    <a:pt x="2903157" y="3345244"/>
                    <a:pt x="3148711" y="3369564"/>
                  </a:cubicBezTo>
                  <a:lnTo>
                    <a:pt x="3748659" y="3429000"/>
                  </a:lnTo>
                  <a:lnTo>
                    <a:pt x="3148711" y="3488372"/>
                  </a:lnTo>
                  <a:cubicBezTo>
                    <a:pt x="2903157" y="3512693"/>
                    <a:pt x="2708847" y="3707003"/>
                    <a:pt x="2684526" y="3952558"/>
                  </a:cubicBezTo>
                  <a:lnTo>
                    <a:pt x="2640965" y="4392676"/>
                  </a:lnTo>
                  <a:lnTo>
                    <a:pt x="2763901" y="5634101"/>
                  </a:lnTo>
                  <a:cubicBezTo>
                    <a:pt x="2820734" y="6208205"/>
                    <a:pt x="3274886" y="6662356"/>
                    <a:pt x="3848989" y="6719189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9EDD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262;p33">
              <a:extLst>
                <a:ext uri="{FF2B5EF4-FFF2-40B4-BE49-F238E27FC236}">
                  <a16:creationId xmlns:a16="http://schemas.microsoft.com/office/drawing/2014/main" id="{A4949098-905E-4CE0-6B46-23EEFD1C0089}"/>
                </a:ext>
              </a:extLst>
            </p:cNvPr>
            <p:cNvSpPr/>
            <p:nvPr/>
          </p:nvSpPr>
          <p:spPr>
            <a:xfrm>
              <a:off x="376200" y="2485080"/>
              <a:ext cx="172800" cy="172800"/>
            </a:xfrm>
            <a:prstGeom prst="star4">
              <a:avLst>
                <a:gd name="adj" fmla="val 25578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320" bIns="313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4830416"/>
      </p:ext>
    </p:extLst>
  </p:cSld>
  <p:clrMapOvr>
    <a:masterClrMapping/>
  </p:clrMapOvr>
</p:sld>
</file>

<file path=ppt/theme/theme1.xml><?xml version="1.0" encoding="utf-8"?>
<a:theme xmlns:a="http://schemas.openxmlformats.org/drawingml/2006/main" name="Islamic History by Slidesgo">
  <a:themeElements>
    <a:clrScheme name="Simple Light">
      <a:dk1>
        <a:srgbClr val="F9EDD9"/>
      </a:dk1>
      <a:lt1>
        <a:srgbClr val="31170D"/>
      </a:lt1>
      <a:dk2>
        <a:srgbClr val="663B2A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9EDD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6EC5D2-85B3-48E6-91A7-31880482B27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Words>415</Words>
  <Application>Microsoft Office PowerPoint</Application>
  <PresentationFormat>On-screen Show (16:9)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Aboreto</vt:lpstr>
      <vt:lpstr>Alegreya Sans</vt:lpstr>
      <vt:lpstr>Arial</vt:lpstr>
      <vt:lpstr>Calibri</vt:lpstr>
      <vt:lpstr>Monsieur La Doulaise</vt:lpstr>
      <vt:lpstr>OpenSymbol</vt:lpstr>
      <vt:lpstr>Palatino Linotype</vt:lpstr>
      <vt:lpstr>Symbol</vt:lpstr>
      <vt:lpstr>Wingdings</vt:lpstr>
      <vt:lpstr>Islamic History by Slidesgo</vt:lpstr>
      <vt:lpstr>SACRED ENSEMBLES OF THE HOYSALAS</vt:lpstr>
      <vt:lpstr>PowerPoint Presentation</vt:lpstr>
      <vt:lpstr>PowerPoint Presentation</vt:lpstr>
      <vt:lpstr>HISTORY OF HOYSALA DYNASTY</vt:lpstr>
      <vt:lpstr>UNESCO RECOGNITION</vt:lpstr>
      <vt:lpstr>CULTURAL AND RELIGIOUS IMPORTANCE</vt:lpstr>
      <vt:lpstr>LOCATION</vt:lpstr>
      <vt:lpstr>PowerPoint Presentation</vt:lpstr>
      <vt:lpstr>Conclusion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SACRED ENSEMBLES OF THE HOYSALAS</dc:title>
  <cp:lastModifiedBy>NCS-26</cp:lastModifiedBy>
  <cp:revision>15</cp:revision>
  <dcterms:modified xsi:type="dcterms:W3CDTF">2026-01-30T06:38:38Z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2025-12-22T17:16:35Z</dcterms:created>
  <dc:creator>Unknown Creator</dc:creator>
  <dc:description/>
  <dc:language>en-US</dc:language>
  <cp:lastModifiedBy>Unknown Creator</cp:lastModifiedBy>
  <dcterms:modified xsi:type="dcterms:W3CDTF">2025-12-22T17:16:35Z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